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572768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E879F9"/>
          </a:solidFill>
          <a:ln/>
        </p:spPr>
      </p:sp>
      <p:sp>
        <p:nvSpPr>
          <p:cNvPr id="3" name="Shape 1"/>
          <p:cNvSpPr/>
          <p:nvPr/>
        </p:nvSpPr>
        <p:spPr>
          <a:xfrm>
            <a:off x="9436608" y="100584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E879F9"/>
          </a:solidFill>
          <a:ln/>
        </p:spPr>
      </p:sp>
      <p:sp>
        <p:nvSpPr>
          <p:cNvPr id="4" name="Shape 2"/>
          <p:cNvSpPr/>
          <p:nvPr/>
        </p:nvSpPr>
        <p:spPr>
          <a:xfrm>
            <a:off x="9436608" y="1572768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E879F9"/>
          </a:solidFill>
          <a:ln/>
        </p:spPr>
      </p:sp>
      <p:sp>
        <p:nvSpPr>
          <p:cNvPr id="5" name="Shape 3"/>
          <p:cNvSpPr/>
          <p:nvPr/>
        </p:nvSpPr>
        <p:spPr>
          <a:xfrm>
            <a:off x="10003536" y="1572768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E879F9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0" y="274320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9436608" y="274320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22D3EE"/>
          </a:solidFill>
          <a:ln/>
        </p:spPr>
      </p:sp>
      <p:sp>
        <p:nvSpPr>
          <p:cNvPr id="8" name="Shape 6"/>
          <p:cNvSpPr/>
          <p:nvPr/>
        </p:nvSpPr>
        <p:spPr>
          <a:xfrm>
            <a:off x="10003536" y="274320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22D3EE"/>
          </a:solidFill>
          <a:ln/>
        </p:spPr>
      </p:sp>
      <p:sp>
        <p:nvSpPr>
          <p:cNvPr id="9" name="Shape 7"/>
          <p:cNvSpPr/>
          <p:nvPr/>
        </p:nvSpPr>
        <p:spPr>
          <a:xfrm>
            <a:off x="10570464" y="274320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22D3EE"/>
          </a:solidFill>
          <a:ln/>
        </p:spPr>
      </p:sp>
      <p:sp>
        <p:nvSpPr>
          <p:cNvPr id="10" name="Shape 8"/>
          <p:cNvSpPr/>
          <p:nvPr/>
        </p:nvSpPr>
        <p:spPr>
          <a:xfrm>
            <a:off x="10607040" y="100584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FACC15"/>
          </a:solidFill>
          <a:ln/>
        </p:spPr>
      </p:sp>
      <p:sp>
        <p:nvSpPr>
          <p:cNvPr id="11" name="Shape 9"/>
          <p:cNvSpPr/>
          <p:nvPr/>
        </p:nvSpPr>
        <p:spPr>
          <a:xfrm>
            <a:off x="11173968" y="1005840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FACC1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0" y="1572768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FACC15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73968" y="1572768"/>
            <a:ext cx="487558" cy="487558"/>
          </a:xfrm>
          <a:prstGeom prst="roundRect">
            <a:avLst>
              <a:gd name="adj" fmla="val 13953"/>
            </a:avLst>
          </a:prstGeom>
          <a:solidFill>
            <a:srgbClr val="FACC15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49840" y="4206240"/>
            <a:ext cx="393192" cy="393192"/>
          </a:xfrm>
          <a:prstGeom prst="roundRect">
            <a:avLst>
              <a:gd name="adj" fmla="val 13953"/>
            </a:avLst>
          </a:prstGeom>
          <a:solidFill>
            <a:srgbClr val="F87171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07040" y="4206240"/>
            <a:ext cx="393192" cy="393192"/>
          </a:xfrm>
          <a:prstGeom prst="roundRect">
            <a:avLst>
              <a:gd name="adj" fmla="val 13953"/>
            </a:avLst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07040" y="4663440"/>
            <a:ext cx="393192" cy="393192"/>
          </a:xfrm>
          <a:prstGeom prst="roundRect">
            <a:avLst>
              <a:gd name="adj" fmla="val 13953"/>
            </a:avLst>
          </a:prstGeom>
          <a:solidFill>
            <a:srgbClr val="F87171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0" y="4663440"/>
            <a:ext cx="393192" cy="393192"/>
          </a:xfrm>
          <a:prstGeom prst="roundRect">
            <a:avLst>
              <a:gd name="adj" fmla="val 13953"/>
            </a:avLst>
          </a:prstGeom>
          <a:solidFill>
            <a:srgbClr val="F8717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2860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Tetris CLI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設計・開発 概要資料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9319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仕様駆動開発(Spec-Driven Development)による、Python標準ライブラリ製CLIテトリス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126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2026年9月12日時点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このアプリについて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ターミナル上で遊べる、1人用のテトリスクローン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Python標準ライブラリ(curses)のみで動作する、CLI(ターミナル)上のテトリスです。
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25856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追加インストールがほぼ不要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87752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Windowsのみ windows-curses を追加依存として許可。それ以外は標準ライブラリのみで動く。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331012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ロジックとUIを分離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639312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ゲームロジック(盤面・スコア等)は画面描画(curses)に依存せず、pytestで自動テストできる。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2D3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36168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仕様駆動開発で継続的に改善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690872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SPEC.mdをマスタードキュメントとし、要望のたびに「壁打ち→記録→実装→テスト」のサイクルを回している。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35240" y="1188720"/>
            <a:ext cx="2944368" cy="4187952"/>
          </a:xfrm>
          <a:prstGeom prst="roundRect">
            <a:avLst>
              <a:gd name="adj" fmla="val 3727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0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74736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7" name="Shape 15"/>
          <p:cNvSpPr/>
          <p:nvPr/>
        </p:nvSpPr>
        <p:spPr>
          <a:xfrm>
            <a:off x="8485632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8" name="Shape 16"/>
          <p:cNvSpPr/>
          <p:nvPr/>
        </p:nvSpPr>
        <p:spPr>
          <a:xfrm>
            <a:off x="8796528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9" name="Shape 17"/>
          <p:cNvSpPr/>
          <p:nvPr/>
        </p:nvSpPr>
        <p:spPr>
          <a:xfrm>
            <a:off x="9107424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0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1" name="Shape 19"/>
          <p:cNvSpPr/>
          <p:nvPr/>
        </p:nvSpPr>
        <p:spPr>
          <a:xfrm>
            <a:off x="9729216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40112" y="141732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3" name="Shape 21"/>
          <p:cNvSpPr/>
          <p:nvPr/>
        </p:nvSpPr>
        <p:spPr>
          <a:xfrm>
            <a:off x="7863840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4" name="Shape 22"/>
          <p:cNvSpPr/>
          <p:nvPr/>
        </p:nvSpPr>
        <p:spPr>
          <a:xfrm>
            <a:off x="8174736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5" name="Shape 23"/>
          <p:cNvSpPr/>
          <p:nvPr/>
        </p:nvSpPr>
        <p:spPr>
          <a:xfrm>
            <a:off x="8485632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6" name="Shape 24"/>
          <p:cNvSpPr/>
          <p:nvPr/>
        </p:nvSpPr>
        <p:spPr>
          <a:xfrm>
            <a:off x="8796528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7" name="Shape 25"/>
          <p:cNvSpPr/>
          <p:nvPr/>
        </p:nvSpPr>
        <p:spPr>
          <a:xfrm>
            <a:off x="9107424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8" name="Shape 26"/>
          <p:cNvSpPr/>
          <p:nvPr/>
        </p:nvSpPr>
        <p:spPr>
          <a:xfrm>
            <a:off x="9418320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29" name="Shape 27"/>
          <p:cNvSpPr/>
          <p:nvPr/>
        </p:nvSpPr>
        <p:spPr>
          <a:xfrm>
            <a:off x="9729216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40112" y="172821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3840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3" name="Shape 31"/>
          <p:cNvSpPr/>
          <p:nvPr/>
        </p:nvSpPr>
        <p:spPr>
          <a:xfrm>
            <a:off x="8485632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4" name="Shape 32"/>
          <p:cNvSpPr/>
          <p:nvPr/>
        </p:nvSpPr>
        <p:spPr>
          <a:xfrm>
            <a:off x="8796528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6" name="Shape 34"/>
          <p:cNvSpPr/>
          <p:nvPr/>
        </p:nvSpPr>
        <p:spPr>
          <a:xfrm>
            <a:off x="9418320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7" name="Shape 35"/>
          <p:cNvSpPr/>
          <p:nvPr/>
        </p:nvSpPr>
        <p:spPr>
          <a:xfrm>
            <a:off x="9729216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40112" y="203911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0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74736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1" name="Shape 39"/>
          <p:cNvSpPr/>
          <p:nvPr/>
        </p:nvSpPr>
        <p:spPr>
          <a:xfrm>
            <a:off x="8485632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2" name="Shape 40"/>
          <p:cNvSpPr/>
          <p:nvPr/>
        </p:nvSpPr>
        <p:spPr>
          <a:xfrm>
            <a:off x="8796528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3" name="Shape 41"/>
          <p:cNvSpPr/>
          <p:nvPr/>
        </p:nvSpPr>
        <p:spPr>
          <a:xfrm>
            <a:off x="9107424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4" name="Shape 42"/>
          <p:cNvSpPr/>
          <p:nvPr/>
        </p:nvSpPr>
        <p:spPr>
          <a:xfrm>
            <a:off x="9418320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5" name="Shape 43"/>
          <p:cNvSpPr/>
          <p:nvPr/>
        </p:nvSpPr>
        <p:spPr>
          <a:xfrm>
            <a:off x="9729216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40112" y="235000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7" name="Shape 45"/>
          <p:cNvSpPr/>
          <p:nvPr/>
        </p:nvSpPr>
        <p:spPr>
          <a:xfrm>
            <a:off x="7863840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8" name="Shape 46"/>
          <p:cNvSpPr/>
          <p:nvPr/>
        </p:nvSpPr>
        <p:spPr>
          <a:xfrm>
            <a:off x="8174736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49" name="Shape 47"/>
          <p:cNvSpPr/>
          <p:nvPr/>
        </p:nvSpPr>
        <p:spPr>
          <a:xfrm>
            <a:off x="8485632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0" name="Shape 48"/>
          <p:cNvSpPr/>
          <p:nvPr/>
        </p:nvSpPr>
        <p:spPr>
          <a:xfrm>
            <a:off x="8796528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1" name="Shape 49"/>
          <p:cNvSpPr/>
          <p:nvPr/>
        </p:nvSpPr>
        <p:spPr>
          <a:xfrm>
            <a:off x="9107424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2" name="Shape 50"/>
          <p:cNvSpPr/>
          <p:nvPr/>
        </p:nvSpPr>
        <p:spPr>
          <a:xfrm>
            <a:off x="9418320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3" name="Shape 51"/>
          <p:cNvSpPr/>
          <p:nvPr/>
        </p:nvSpPr>
        <p:spPr>
          <a:xfrm>
            <a:off x="9729216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40112" y="266090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63840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6" name="Shape 54"/>
          <p:cNvSpPr/>
          <p:nvPr/>
        </p:nvSpPr>
        <p:spPr>
          <a:xfrm>
            <a:off x="8174736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7" name="Shape 55"/>
          <p:cNvSpPr/>
          <p:nvPr/>
        </p:nvSpPr>
        <p:spPr>
          <a:xfrm>
            <a:off x="8485632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8" name="Shape 56"/>
          <p:cNvSpPr/>
          <p:nvPr/>
        </p:nvSpPr>
        <p:spPr>
          <a:xfrm>
            <a:off x="8796528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59" name="Shape 57"/>
          <p:cNvSpPr/>
          <p:nvPr/>
        </p:nvSpPr>
        <p:spPr>
          <a:xfrm>
            <a:off x="9107424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0" name="Shape 58"/>
          <p:cNvSpPr/>
          <p:nvPr/>
        </p:nvSpPr>
        <p:spPr>
          <a:xfrm>
            <a:off x="9418320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1" name="Shape 59"/>
          <p:cNvSpPr/>
          <p:nvPr/>
        </p:nvSpPr>
        <p:spPr>
          <a:xfrm>
            <a:off x="9729216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2" name="Shape 60"/>
          <p:cNvSpPr/>
          <p:nvPr/>
        </p:nvSpPr>
        <p:spPr>
          <a:xfrm>
            <a:off x="10040112" y="297180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3" name="Shape 61"/>
          <p:cNvSpPr/>
          <p:nvPr/>
        </p:nvSpPr>
        <p:spPr>
          <a:xfrm>
            <a:off x="7863840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4" name="Shape 62"/>
          <p:cNvSpPr/>
          <p:nvPr/>
        </p:nvSpPr>
        <p:spPr>
          <a:xfrm>
            <a:off x="8174736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5" name="Shape 63"/>
          <p:cNvSpPr/>
          <p:nvPr/>
        </p:nvSpPr>
        <p:spPr>
          <a:xfrm>
            <a:off x="8485632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6" name="Shape 64"/>
          <p:cNvSpPr/>
          <p:nvPr/>
        </p:nvSpPr>
        <p:spPr>
          <a:xfrm>
            <a:off x="8796528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7" name="Shape 65"/>
          <p:cNvSpPr/>
          <p:nvPr/>
        </p:nvSpPr>
        <p:spPr>
          <a:xfrm>
            <a:off x="9107424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8" name="Shape 66"/>
          <p:cNvSpPr/>
          <p:nvPr/>
        </p:nvSpPr>
        <p:spPr>
          <a:xfrm>
            <a:off x="9418320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69" name="Shape 67"/>
          <p:cNvSpPr/>
          <p:nvPr/>
        </p:nvSpPr>
        <p:spPr>
          <a:xfrm>
            <a:off x="9729216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0" name="Shape 68"/>
          <p:cNvSpPr/>
          <p:nvPr/>
        </p:nvSpPr>
        <p:spPr>
          <a:xfrm>
            <a:off x="10040112" y="328269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1" name="Shape 69"/>
          <p:cNvSpPr/>
          <p:nvPr/>
        </p:nvSpPr>
        <p:spPr>
          <a:xfrm>
            <a:off x="7863840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2" name="Shape 70"/>
          <p:cNvSpPr/>
          <p:nvPr/>
        </p:nvSpPr>
        <p:spPr>
          <a:xfrm>
            <a:off x="8174736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3" name="Shape 71"/>
          <p:cNvSpPr/>
          <p:nvPr/>
        </p:nvSpPr>
        <p:spPr>
          <a:xfrm>
            <a:off x="8485632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4" name="Shape 72"/>
          <p:cNvSpPr/>
          <p:nvPr/>
        </p:nvSpPr>
        <p:spPr>
          <a:xfrm>
            <a:off x="8796528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5" name="Shape 73"/>
          <p:cNvSpPr/>
          <p:nvPr/>
        </p:nvSpPr>
        <p:spPr>
          <a:xfrm>
            <a:off x="9107424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6" name="Shape 74"/>
          <p:cNvSpPr/>
          <p:nvPr/>
        </p:nvSpPr>
        <p:spPr>
          <a:xfrm>
            <a:off x="9418320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7" name="Shape 75"/>
          <p:cNvSpPr/>
          <p:nvPr/>
        </p:nvSpPr>
        <p:spPr>
          <a:xfrm>
            <a:off x="9729216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8" name="Shape 76"/>
          <p:cNvSpPr/>
          <p:nvPr/>
        </p:nvSpPr>
        <p:spPr>
          <a:xfrm>
            <a:off x="10040112" y="3593592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79" name="Shape 77"/>
          <p:cNvSpPr/>
          <p:nvPr/>
        </p:nvSpPr>
        <p:spPr>
          <a:xfrm>
            <a:off x="7863840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0" name="Shape 78"/>
          <p:cNvSpPr/>
          <p:nvPr/>
        </p:nvSpPr>
        <p:spPr>
          <a:xfrm>
            <a:off x="8174736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1" name="Shape 79"/>
          <p:cNvSpPr/>
          <p:nvPr/>
        </p:nvSpPr>
        <p:spPr>
          <a:xfrm>
            <a:off x="8485632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2" name="Shape 80"/>
          <p:cNvSpPr/>
          <p:nvPr/>
        </p:nvSpPr>
        <p:spPr>
          <a:xfrm>
            <a:off x="8796528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3" name="Shape 81"/>
          <p:cNvSpPr/>
          <p:nvPr/>
        </p:nvSpPr>
        <p:spPr>
          <a:xfrm>
            <a:off x="9107424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4" name="Shape 82"/>
          <p:cNvSpPr/>
          <p:nvPr/>
        </p:nvSpPr>
        <p:spPr>
          <a:xfrm>
            <a:off x="9418320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5" name="Shape 83"/>
          <p:cNvSpPr/>
          <p:nvPr/>
        </p:nvSpPr>
        <p:spPr>
          <a:xfrm>
            <a:off x="9729216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6" name="Shape 84"/>
          <p:cNvSpPr/>
          <p:nvPr/>
        </p:nvSpPr>
        <p:spPr>
          <a:xfrm>
            <a:off x="10040112" y="3904488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87" name="Shape 85"/>
          <p:cNvSpPr/>
          <p:nvPr/>
        </p:nvSpPr>
        <p:spPr>
          <a:xfrm>
            <a:off x="7863840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8174736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87171"/>
          </a:solidFill>
          <a:ln/>
        </p:spPr>
      </p:sp>
      <p:sp>
        <p:nvSpPr>
          <p:cNvPr id="89" name="Shape 87"/>
          <p:cNvSpPr/>
          <p:nvPr/>
        </p:nvSpPr>
        <p:spPr>
          <a:xfrm>
            <a:off x="8485632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0" name="Shape 88"/>
          <p:cNvSpPr/>
          <p:nvPr/>
        </p:nvSpPr>
        <p:spPr>
          <a:xfrm>
            <a:off x="8796528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1" name="Shape 89"/>
          <p:cNvSpPr/>
          <p:nvPr/>
        </p:nvSpPr>
        <p:spPr>
          <a:xfrm>
            <a:off x="9107424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2" name="Shape 90"/>
          <p:cNvSpPr/>
          <p:nvPr/>
        </p:nvSpPr>
        <p:spPr>
          <a:xfrm>
            <a:off x="9418320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3" name="Shape 91"/>
          <p:cNvSpPr/>
          <p:nvPr/>
        </p:nvSpPr>
        <p:spPr>
          <a:xfrm>
            <a:off x="9729216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E879F9"/>
          </a:solidFill>
          <a:ln/>
        </p:spPr>
      </p:sp>
      <p:sp>
        <p:nvSpPr>
          <p:cNvPr id="94" name="Shape 92"/>
          <p:cNvSpPr/>
          <p:nvPr/>
        </p:nvSpPr>
        <p:spPr>
          <a:xfrm>
            <a:off x="10040112" y="4215384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5" name="Shape 93"/>
          <p:cNvSpPr/>
          <p:nvPr/>
        </p:nvSpPr>
        <p:spPr>
          <a:xfrm>
            <a:off x="7863840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96" name="Shape 94"/>
          <p:cNvSpPr/>
          <p:nvPr/>
        </p:nvSpPr>
        <p:spPr>
          <a:xfrm>
            <a:off x="8174736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87171"/>
          </a:solidFill>
          <a:ln/>
        </p:spPr>
      </p:sp>
      <p:sp>
        <p:nvSpPr>
          <p:cNvPr id="97" name="Shape 95"/>
          <p:cNvSpPr/>
          <p:nvPr/>
        </p:nvSpPr>
        <p:spPr>
          <a:xfrm>
            <a:off x="8485632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87171"/>
          </a:solidFill>
          <a:ln/>
        </p:spPr>
      </p:sp>
      <p:sp>
        <p:nvSpPr>
          <p:cNvPr id="98" name="Shape 96"/>
          <p:cNvSpPr/>
          <p:nvPr/>
        </p:nvSpPr>
        <p:spPr>
          <a:xfrm>
            <a:off x="8796528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ACC15"/>
          </a:solidFill>
          <a:ln/>
        </p:spPr>
      </p:sp>
      <p:sp>
        <p:nvSpPr>
          <p:cNvPr id="99" name="Shape 97"/>
          <p:cNvSpPr/>
          <p:nvPr/>
        </p:nvSpPr>
        <p:spPr>
          <a:xfrm>
            <a:off x="9107424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ACC15"/>
          </a:solidFill>
          <a:ln/>
        </p:spPr>
      </p:sp>
      <p:sp>
        <p:nvSpPr>
          <p:cNvPr id="100" name="Shape 98"/>
          <p:cNvSpPr/>
          <p:nvPr/>
        </p:nvSpPr>
        <p:spPr>
          <a:xfrm>
            <a:off x="9418320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4ADE80"/>
          </a:solidFill>
          <a:ln/>
        </p:spPr>
      </p:sp>
      <p:sp>
        <p:nvSpPr>
          <p:cNvPr id="101" name="Shape 99"/>
          <p:cNvSpPr/>
          <p:nvPr/>
        </p:nvSpPr>
        <p:spPr>
          <a:xfrm>
            <a:off x="9729216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040112" y="4526280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2C5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3840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3F5F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174736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60A5F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485632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E879F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796528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ACC15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107424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FACC15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418320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D3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29216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D3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040112" y="4837176"/>
            <a:ext cx="273588" cy="273588"/>
          </a:xfrm>
          <a:prstGeom prst="roundRect">
            <a:avLst>
              <a:gd name="adj" fmla="val 10027"/>
            </a:avLst>
          </a:prstGeom>
          <a:solidFill>
            <a:srgbClr val="22D3EE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シンプルさとテスト容易性を重視した設計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20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標準ライブラリのみ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5000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curses以外の外部パッケージに依存しない(Windowsのみwindows-curses)。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9202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920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ロジック / UI 分離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35000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board.py・game.py はcursesに非依存。tests/ から直接自動テストできる。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2062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206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仕様駆動開発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63600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SPEC.mdをマスターに、壁打ち→記録→実装→テストのサイクルで継続的に改善。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886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2062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206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継続的な機能追加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463600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色分け表示・モダン配色・ライン消去エフェクトなど、要望ベースで進化中。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 / モジュール構成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ロジック層(curses非依存)とUI層を分離し、自動テスト可能にしている</a:t>
            </a:r>
            <a:endParaRPr lang="en-US" sz="1300" dirty="0"/>
          </a:p>
        </p:txBody>
      </p:sp>
      <p:pic>
        <p:nvPicPr>
          <p:cNvPr id="4" name="Image 0" descr="assets/diagra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6208" y="1691640"/>
            <a:ext cx="6556536" cy="4892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主な機能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 機能要件(FR)のうち、代表的なもの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25856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基本操作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移動・回転(ウォールキック対応)・ソフト/ハードドロップ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07408" y="160020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81728" y="187452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FACC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225856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スコア &amp; レベル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78892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ライン消去数・落下距離に応じて加点、10ラインごとにレベルアップ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66176" y="160020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40496" y="187452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E879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0496" y="225856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7-bagランダム出現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540496" y="278892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7種のミノが偏りなく出現。ネクスト表示で1手先を提示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20624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4ADE8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59028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ブロックの色分け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12064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ミノの種類ごとに色分け。色非対応端末はモノクロにフォールバック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07408" y="393192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1728" y="420624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60A5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81728" y="459028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モダンな配色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681728" y="512064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ブロックを塗りつぶし表示にし、UIにアクセントカラーを追加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66176" y="3931920"/>
            <a:ext cx="3602736" cy="2057400"/>
          </a:xfrm>
          <a:prstGeom prst="roundRect">
            <a:avLst>
              <a:gd name="adj" fmla="val 5333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40496" y="4206240"/>
            <a:ext cx="292608" cy="292608"/>
          </a:xfrm>
          <a:prstGeom prst="roundRect">
            <a:avLst>
              <a:gd name="adj" fmla="val 21875"/>
            </a:avLst>
          </a:prstGeom>
          <a:solidFill>
            <a:srgbClr val="F8717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40496" y="459028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ライン消去エフェクト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540496" y="512064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完成した行を0.3秒点滅させてから消去する演出を追加(最新機能)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開発プロセス:仕様駆動開発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SPEC.mdを変更する前に、必ず「壁打ち」で論点・選択肢を記録する(NFR-7)</a:t>
            </a:r>
            <a:endParaRPr lang="en-US" sz="1300" dirty="0"/>
          </a:p>
        </p:txBody>
      </p:sp>
      <p:pic>
        <p:nvPicPr>
          <p:cNvPr id="4" name="Image 0" descr="assets/slide_spec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920240"/>
            <a:ext cx="10058400" cy="3661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5901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「なぜ今の仕様になっているか」の経緯を docs/spec-log/ に資産として残し、後から誰でも追跡できるようにしている。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ゲームループ:1フレームの処理順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固定タイムステップ方式により、実行環境の速度に依存しない一定間隔の重力落下を保証(NFR-8)</a:t>
            </a:r>
            <a:endParaRPr lang="en-US" sz="1300" dirty="0"/>
          </a:p>
        </p:txBody>
      </p:sp>
      <p:pic>
        <p:nvPicPr>
          <p:cNvPr id="4" name="Image 0" descr="assets/diagram_game_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6054" y="1737360"/>
            <a:ext cx="7076844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ライン消去エフェクト(最新機能)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行が完成しても即座に消さず、点滅させてから消去する演出を追加</a:t>
            </a:r>
            <a:endParaRPr lang="en-US" sz="1300" dirty="0"/>
          </a:p>
        </p:txBody>
      </p:sp>
      <p:pic>
        <p:nvPicPr>
          <p:cNvPr id="4" name="Image 0" descr="assets/slide_line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236" y="1691640"/>
            <a:ext cx="8412480" cy="306206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63040" y="5119461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EAF2F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463040" y="5183469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0.3秒間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5668101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表示時間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5119461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EAF2F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5183469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0.075秒間隔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5668101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点滅の周期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63840" y="5119461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EAF2F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0" y="5183469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A_REVERSE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5668101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色を使わない反転表示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品質・テスト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受け入れ基準(AC)をpytestで自動検証している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件のテストが全てパス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10712" y="20574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件の受け入れ基準(AC)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72784" y="20574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件の壁打ちログ(設計判断の記録)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34856" y="20574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1773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つのPythonモジュール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pytest実行のたびに、成功・失敗にかかわらず logs/ へ結果を1ファイル記録している(NFR-6)。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今後の拡張候補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 10章「スコープ外」に記載の将来検討事項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B254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39112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E879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17320" y="1737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ホールド機能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B2545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136392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4ADE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17320" y="28346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ゴーストピース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B2545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4233672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60A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17320" y="3931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ネットワーク対戦・オンラインランキング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B2545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330952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417320" y="50292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SRS完全準拠のウォールキックテーブル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関連ドキュメント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本資料はSPEC.mdの仕様変更のたびに、他の資料とあわせて更新する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02736" cy="2286000"/>
          </a:xfrm>
          <a:prstGeom prst="roundRect">
            <a:avLst>
              <a:gd name="adj" fmla="val 4800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6032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本資料(pptx)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初見の人向けの概要説明資料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25696" y="1645920"/>
            <a:ext cx="3602736" cy="2286000"/>
          </a:xfrm>
          <a:prstGeom prst="roundRect">
            <a:avLst>
              <a:gd name="adj" fmla="val 4800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45736" y="19659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ACC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45736" y="256032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設計書(docx)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45736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機能要件・非機能要件・アーキテクチャ・処理フローの詳細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302752" y="1645920"/>
            <a:ext cx="3602736" cy="2286000"/>
          </a:xfrm>
          <a:prstGeom prst="roundRect">
            <a:avLst>
              <a:gd name="adj" fmla="val 4800"/>
            </a:avLst>
          </a:prstGeom>
          <a:solidFill>
            <a:srgbClr val="1B254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22792" y="19659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79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22792" y="256032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要件一覧(xlsx)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227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FR/NFR/AC・変更履歴のトレーサビリティ表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22C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553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更新方針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937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SPEC.mdの仕様変更(壁打ちログ運用によるFR/NFR/AC追加・改訂)のたびに、本資料・設計書・要件一覧を更新する。更新のタイミングと手順はスキル(design-doc-sync)として登録済み。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2026-09-12T06:48:46Z</dcterms:created>
  <dcterms:modified xsi:type="dcterms:W3CDTF">2026-09-12T06:48:46Z</dcterms:modified>
</cp:coreProperties>
</file>